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F5F5"/>
                </a:solidFill>
                <a:latin typeface="Source Serif 4"/>
              </a:defRPr>
            </a:pPr>
            <a:r>
              <a:t>Strategic Review</a:t>
            </a:r>
          </a:p>
          <a:p>
            <a:pPr algn="ctr">
              <a:defRPr sz="5600" b="1">
                <a:solidFill>
                  <a:srgbClr val="7A7AE6"/>
                </a:solidFill>
                <a:latin typeface="Source Serif 4"/>
              </a:defRPr>
            </a:pPr>
            <a:r>
              <a:t>SME Group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  <a:latin typeface="Source Sans 3"/>
              </a:defRPr>
            </a:pPr>
            <a:r>
              <a:t>Pricing, Methodology &amp; Commercial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760720"/>
            <a:ext cx="3044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A0A0A0"/>
                </a:solidFill>
                <a:latin typeface="Source Sans 3"/>
              </a:rPr>
              <a:t>transform</a:t>
            </a:r>
            <a:r>
              <a:rPr sz="1600" b="1">
                <a:solidFill>
                  <a:srgbClr val="7A7AE6"/>
                </a:solidFill>
                <a:latin typeface="Source Sans 3"/>
              </a:rPr>
              <a:t>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Source Serif 4"/>
              </a:defRPr>
            </a:pPr>
            <a:r>
              <a:t>£150/hr — Where It Sits in the UK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28600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7A7AE6"/>
                </a:solidFill>
                <a:latin typeface="Source Serif 4"/>
              </a:defRPr>
            </a:pPr>
            <a:r>
              <a:t>£55–165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" y="4023360"/>
            <a:ext cx="2468880" cy="54864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4297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0A0A0"/>
                </a:solidFill>
                <a:latin typeface="Source Sans 3"/>
              </a:defRPr>
            </a:pPr>
            <a:r>
              <a:t>Mid-Level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228600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9B9BF0"/>
                </a:solidFill>
                <a:latin typeface="Source Serif 4"/>
              </a:defRPr>
            </a:pPr>
            <a:r>
              <a:t>£150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18304" y="4023360"/>
            <a:ext cx="2468880" cy="54864"/>
          </a:xfrm>
          <a:prstGeom prst="rect">
            <a:avLst/>
          </a:prstGeom>
          <a:solidFill>
            <a:srgbClr val="9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1104" y="4297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0A0A0"/>
                </a:solidFill>
                <a:latin typeface="Source Sans 3"/>
              </a:defRPr>
            </a:pPr>
            <a:r>
              <a:t>TransformAZ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8704" y="228600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5A5ABF"/>
                </a:solidFill>
                <a:latin typeface="Source Serif 4"/>
              </a:defRPr>
            </a:pPr>
            <a:r>
              <a:t>£165–345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75904" y="4023360"/>
            <a:ext cx="2468880" cy="54864"/>
          </a:xfrm>
          <a:prstGeom prst="rect">
            <a:avLst/>
          </a:prstGeom>
          <a:solidFill>
            <a:srgbClr val="5A5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18704" y="4297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0A0A0"/>
                </a:solidFill>
                <a:latin typeface="Source Sans 3"/>
              </a:defRPr>
            </a:pPr>
            <a:r>
              <a:t>Senior Specialist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23944" y="2560320"/>
            <a:ext cx="18288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1544" y="2560320"/>
            <a:ext cx="18288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1274552" cy="109728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B9BF0"/>
                </a:solidFill>
                <a:latin typeface="Source Sans 3"/>
              </a:defRPr>
            </a:pPr>
            <a:r>
              <a:t>Rate is market-aligned but exposing hourly detail invites commodity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Source Serif 4"/>
              </a:defRPr>
            </a:pPr>
            <a:r>
              <a:t>Pricing Frame: Hourly vs Project-Based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06060"/>
                </a:solidFill>
                <a:latin typeface="Source Serif 4"/>
              </a:defRPr>
            </a:pPr>
            <a:r>
              <a:t>Current: Hourly Exposed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Source Sans 3"/>
              </a:defRPr>
            </a:pPr>
            <a:r>
              <a:t>Client anchors on "Is £150/hr worth it?"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584448"/>
            <a:ext cx="91440" cy="91440"/>
          </a:xfrm>
          <a:prstGeom prst="ellipse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Source Sans 3"/>
              </a:defRPr>
            </a:pPr>
            <a:r>
              <a:t>Invites comparison with £50-80 freelancers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773168"/>
            <a:ext cx="91440" cy="91440"/>
          </a:xfrm>
          <a:prstGeom prst="ellipse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Source Sans 3"/>
              </a:defRPr>
            </a:pPr>
            <a:r>
              <a:t>Only 29% of consultants still use hourly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5A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ABF5A"/>
                </a:solidFill>
                <a:latin typeface="Source Serif 4"/>
              </a:defRPr>
            </a:pPr>
            <a:r>
              <a:t>Better: Project-Based Fee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5A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1" y="2286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Source Sans 3"/>
              </a:defRPr>
            </a:pPr>
            <a:r>
              <a:t>Client evaluates "Is solving this worth £3K?"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3584448"/>
            <a:ext cx="91440" cy="91440"/>
          </a:xfrm>
          <a:prstGeom prst="ellipse">
            <a:avLst/>
          </a:prstGeom>
          <a:solidFill>
            <a:srgbClr val="5A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1" y="34747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Source Sans 3"/>
              </a:defRPr>
            </a:pPr>
            <a:r>
              <a:t>73% of clients prefer value-based models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4773168"/>
            <a:ext cx="91440" cy="91440"/>
          </a:xfrm>
          <a:prstGeom prst="ellipse">
            <a:avLst/>
          </a:prstGeom>
          <a:solidFill>
            <a:srgbClr val="5A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1" y="4663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Source Sans 3"/>
              </a:defRPr>
            </a:pPr>
            <a:r>
              <a:t>51% more likely to land £10K+ projects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7A7AE6"/>
                </a:solidFill>
                <a:latin typeface="Source Serif 4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Source Serif 4"/>
              </a:defRPr>
            </a:pPr>
            <a:r>
              <a:t>Total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A0A0"/>
                </a:solidFill>
                <a:latin typeface="Source Sans 3"/>
              </a:defRPr>
            </a:pPr>
            <a:r>
              <a:t>Is £9,000 correctly positioned for the scope described?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Source Serif 4"/>
              </a:defRPr>
            </a:pPr>
            <a:r>
              <a:t>£9,000 vs UK Market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28600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7A7AE6"/>
                </a:solidFill>
                <a:latin typeface="Source Serif 4"/>
              </a:defRPr>
            </a:pPr>
            <a:r>
              <a:t>£3–25K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" y="4023360"/>
            <a:ext cx="2468880" cy="54864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4297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0A0A0"/>
                </a:solidFill>
                <a:latin typeface="Source Sans 3"/>
              </a:defRPr>
            </a:pPr>
            <a:r>
              <a:t>Diagnostic /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228600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9B9BF0"/>
                </a:solidFill>
                <a:latin typeface="Source Serif 4"/>
              </a:defRPr>
            </a:pPr>
            <a:r>
              <a:t>£10–75K</a:t>
            </a:r>
          </a:p>
        </p:txBody>
      </p:sp>
      <p:sp>
        <p:nvSpPr>
          <p:cNvPr id="8" name="Rectangle 7"/>
          <p:cNvSpPr/>
          <p:nvPr/>
        </p:nvSpPr>
        <p:spPr>
          <a:xfrm>
            <a:off x="4718304" y="4023360"/>
            <a:ext cx="2468880" cy="54864"/>
          </a:xfrm>
          <a:prstGeom prst="rect">
            <a:avLst/>
          </a:prstGeom>
          <a:solidFill>
            <a:srgbClr val="9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1104" y="4297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0A0A0"/>
                </a:solidFill>
                <a:latin typeface="Source Sans 3"/>
              </a:defRPr>
            </a:pPr>
            <a:r>
              <a:t>Implementation 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8704" y="228600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E06060"/>
                </a:solidFill>
                <a:latin typeface="Source Serif 4"/>
              </a:defRPr>
            </a:pPr>
            <a:r>
              <a:t>£9K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75904" y="4023360"/>
            <a:ext cx="2468880" cy="54864"/>
          </a:xfrm>
          <a:prstGeom prst="rect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18704" y="4297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0A0A0"/>
                </a:solidFill>
                <a:latin typeface="Source Sans 3"/>
              </a:defRPr>
            </a:pPr>
            <a:r>
              <a:t>TransformAZ (Both)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23944" y="2560320"/>
            <a:ext cx="18288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1544" y="2560320"/>
            <a:ext cx="18288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1274552" cy="109728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E06060"/>
                </a:solidFill>
                <a:latin typeface="Source Sans 3"/>
              </a:defRPr>
            </a:pPr>
            <a:r>
              <a:t>Below market: £9K covers both discovery AND execution — market expects £15-30K for this scope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F5"/>
                </a:solidFill>
                <a:latin typeface="Source Serif 4"/>
              </a:defRPr>
            </a:pPr>
            <a:r>
              <a:t>Three Pricing Approaches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938528"/>
            <a:ext cx="3840480" cy="3657600"/>
          </a:xfrm>
          <a:prstGeom prst="round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A7AE6"/>
                </a:solidFill>
                <a:latin typeface="Source Serif 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Source Serif 4"/>
              </a:defRPr>
            </a:pPr>
            <a:r>
              <a:t>Hourly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0A0A0"/>
                </a:solidFill>
                <a:latin typeface="Source Sans 3"/>
              </a:defRPr>
            </a:pPr>
            <a:r>
              <a:t>29% adoption. Caps income at available hours. Commoditises expertise.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2304288"/>
            <a:ext cx="3840480" cy="3657600"/>
          </a:xfrm>
          <a:prstGeom prst="round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9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B9BF0"/>
                </a:solidFill>
                <a:latin typeface="Source Serif 4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74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Source Serif 4"/>
              </a:defRPr>
            </a:pPr>
            <a:r>
              <a:t>Project-Based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29767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0A0A0"/>
                </a:solidFill>
                <a:latin typeface="Source Sans 3"/>
              </a:defRPr>
            </a:pPr>
            <a:r>
              <a:t>44% offer productised services. Rewards efficiency. Budget certainty for clients.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7" y="1755648"/>
            <a:ext cx="3840480" cy="3657600"/>
          </a:xfrm>
          <a:prstGeom prst="round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5A5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A5ABF"/>
                </a:solidFill>
                <a:latin typeface="Source Serif 4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926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Source Serif 4"/>
              </a:defRPr>
            </a:pPr>
            <a:r>
              <a:t>Value-Based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74903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0A0A0"/>
                </a:solidFill>
                <a:latin typeface="Source Sans 3"/>
              </a:defRPr>
            </a:pPr>
            <a:r>
              <a:t>Only 17% use it, but 51% land £10K+ projects. Highest earning potential.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7A7AE6"/>
                </a:solidFill>
                <a:latin typeface="Source Serif 4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Source Serif 4"/>
              </a:defRPr>
            </a:pPr>
            <a:r>
              <a:t>Proposal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A0A0"/>
                </a:solidFill>
                <a:latin typeface="Source Sans 3"/>
              </a:defRPr>
            </a:pPr>
            <a:r>
              <a:t>What's working and what needs strengthening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Source Serif 4"/>
              </a:defRPr>
            </a:pPr>
            <a:r>
              <a:t>Strengths vs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5A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ABF5A"/>
                </a:solidFill>
                <a:latin typeface="Source Serif 4"/>
              </a:defRPr>
            </a:pPr>
            <a:r>
              <a:t>What's Working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04288"/>
            <a:ext cx="91440" cy="91440"/>
          </a:xfrm>
          <a:prstGeom prst="ellipse">
            <a:avLst/>
          </a:prstGeom>
          <a:solidFill>
            <a:srgbClr val="5A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Source Sans 3"/>
              </a:defRPr>
            </a:pPr>
            <a:r>
              <a:t>Deep business understanding — best section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355848"/>
            <a:ext cx="91440" cy="91440"/>
          </a:xfrm>
          <a:prstGeom prst="ellipse">
            <a:avLst/>
          </a:prstGeom>
          <a:solidFill>
            <a:srgbClr val="5A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Source Sans 3"/>
              </a:defRPr>
            </a:pPr>
            <a:r>
              <a:t>Two focused transformation areas, not boiling the ocean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07407"/>
            <a:ext cx="91440" cy="91440"/>
          </a:xfrm>
          <a:prstGeom prst="ellipse">
            <a:avLst/>
          </a:prstGeom>
          <a:solidFill>
            <a:srgbClr val="5A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7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Source Sans 3"/>
              </a:defRPr>
            </a:pPr>
            <a:r>
              <a:t>Concrete deliverables per phase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458968"/>
            <a:ext cx="91440" cy="91440"/>
          </a:xfrm>
          <a:prstGeom prst="ellipse">
            <a:avLst/>
          </a:prstGeom>
          <a:solidFill>
            <a:srgbClr val="5A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Source Sans 3"/>
              </a:defRPr>
            </a:pPr>
            <a:r>
              <a:t>Phase gate reduces client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1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06060"/>
                </a:solidFill>
                <a:latin typeface="Source Serif 4"/>
              </a:defRPr>
            </a:pPr>
            <a:r>
              <a:t>What's Missing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2304288"/>
            <a:ext cx="91440" cy="91440"/>
          </a:xfrm>
          <a:prstGeom prst="ellipse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1" y="21945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Source Sans 3"/>
              </a:defRPr>
            </a:pPr>
            <a:r>
              <a:t>No quantification of client's problem cost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3355848"/>
            <a:ext cx="91440" cy="91440"/>
          </a:xfrm>
          <a:prstGeom prst="ellipse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1" y="3246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Source Sans 3"/>
              </a:defRPr>
            </a:pPr>
            <a:r>
              <a:t>No ROI or value framing (should show 5-10x return)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4407407"/>
            <a:ext cx="91440" cy="91440"/>
          </a:xfrm>
          <a:prstGeom prst="ellipse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1" y="429767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Source Sans 3"/>
              </a:defRPr>
            </a:pPr>
            <a:r>
              <a:t>No case studies or proof points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5458968"/>
            <a:ext cx="91440" cy="91440"/>
          </a:xfrm>
          <a:prstGeom prst="ellipse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1" y="5349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5"/>
                </a:solidFill>
                <a:latin typeface="Source Sans 3"/>
              </a:defRPr>
            </a:pPr>
            <a:r>
              <a:t>No pricing tiers, payment terms, or scope protection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Source Serif 4"/>
              </a:defRPr>
            </a:pPr>
            <a:r>
              <a:t>Five Critical Gaps to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72579" cy="438912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72579" cy="9144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A7AE6"/>
                </a:solidFill>
                <a:latin typeface="Source Serif 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7982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Source Serif 4"/>
              </a:defRPr>
            </a:pPr>
            <a:r>
              <a:t>No 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17982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A0"/>
                </a:solidFill>
                <a:latin typeface="Source Sans 3"/>
              </a:defRPr>
            </a:pPr>
            <a:r>
              <a:t>No quantified cost of inaction or projected savings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8379" y="1645920"/>
            <a:ext cx="2072579" cy="438912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58379" y="1645920"/>
            <a:ext cx="2072579" cy="91440"/>
          </a:xfrm>
          <a:prstGeom prst="rect">
            <a:avLst/>
          </a:prstGeom>
          <a:solidFill>
            <a:srgbClr val="9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5539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B9BF0"/>
                </a:solidFill>
                <a:latin typeface="Source Serif 4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2560320"/>
            <a:ext cx="17982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Source Serif 4"/>
              </a:defRPr>
            </a:pPr>
            <a:r>
              <a:t>No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3657600"/>
            <a:ext cx="17982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A0"/>
                </a:solidFill>
                <a:latin typeface="Source Sans 3"/>
              </a:defRPr>
            </a:pPr>
            <a:r>
              <a:t>Zero case studies or proof points from prior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9558" y="1645920"/>
            <a:ext cx="2072579" cy="438912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59558" y="1645920"/>
            <a:ext cx="2072579" cy="9144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6718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A7AE6"/>
                </a:solidFill>
                <a:latin typeface="Source Serif 4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560320"/>
            <a:ext cx="17982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Source Serif 4"/>
              </a:defRPr>
            </a:pPr>
            <a:r>
              <a:t>No Tiers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6718" y="3657600"/>
            <a:ext cx="17982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A0"/>
                </a:solidFill>
                <a:latin typeface="Source Sans 3"/>
              </a:defRPr>
            </a:pPr>
            <a:r>
              <a:t>Single price — no options to anchor mid-tier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737" y="1645920"/>
            <a:ext cx="2072579" cy="438912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737" y="1645920"/>
            <a:ext cx="2072579" cy="91440"/>
          </a:xfrm>
          <a:prstGeom prst="rect">
            <a:avLst/>
          </a:prstGeom>
          <a:solidFill>
            <a:srgbClr val="9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7897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B9BF0"/>
                </a:solidFill>
                <a:latin typeface="Source Serif 4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7897" y="2560320"/>
            <a:ext cx="17982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Source Serif 4"/>
              </a:defRPr>
            </a:pPr>
            <a:r>
              <a:t>Vague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7897" y="3657600"/>
            <a:ext cx="17982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A0"/>
                </a:solidFill>
                <a:latin typeface="Source Sans 3"/>
              </a:defRPr>
            </a:pPr>
            <a:r>
              <a:t>Directional metrics without concrete targets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1916" y="1645920"/>
            <a:ext cx="2072579" cy="438912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61916" y="1645920"/>
            <a:ext cx="2072579" cy="9144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99076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A7AE6"/>
                </a:solidFill>
                <a:latin typeface="Source Serif 4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9076" y="2560320"/>
            <a:ext cx="17982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Source Serif 4"/>
              </a:defRPr>
            </a:pPr>
            <a:r>
              <a:t>No Terms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9076" y="3657600"/>
            <a:ext cx="17982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A0"/>
                </a:solidFill>
                <a:latin typeface="Source Sans 3"/>
              </a:defRPr>
            </a:pPr>
            <a:r>
              <a:t>Missing payment schedule and scope protection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7A7AE6"/>
                </a:solidFill>
                <a:latin typeface="Source Serif 4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Source Serif 4"/>
              </a:defRPr>
            </a:pPr>
            <a:r>
              <a:t>Risk &amp;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A0A0"/>
                </a:solidFill>
                <a:latin typeface="Source Sans 3"/>
              </a:defRPr>
            </a:pPr>
            <a:r>
              <a:t>Watchpoints and priority actions to strengthen the proposal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Source Serif 4"/>
              </a:defRPr>
            </a:pPr>
            <a:r>
              <a:t>Key Risk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9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5F5"/>
                </a:solidFill>
                <a:latin typeface="Source Sans 3"/>
              </a:defRPr>
            </a:pPr>
            <a:r>
              <a:t>Scope creep — no change request mechanism or cap on additional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109728" cy="109728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5F5"/>
                </a:solidFill>
                <a:latin typeface="Source Sans 3"/>
              </a:defRPr>
            </a:pPr>
            <a:r>
              <a:t>Client dependency risk — no minimum commitment clause for client availability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109728" cy="109728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5F5"/>
                </a:solidFill>
                <a:latin typeface="Source Sans 3"/>
              </a:defRPr>
            </a:pPr>
            <a:r>
              <a:t>No exit clause — missing termination terms, notice period, or IP ownership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57800"/>
            <a:ext cx="109728" cy="109728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5F5"/>
                </a:solidFill>
                <a:latin typeface="Source Sans 3"/>
              </a:defRPr>
            </a:pPr>
            <a:r>
              <a:t>No competitive moat — proposal doesn't differentiate from any other consultancy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0A0A0"/>
                </a:solidFill>
                <a:latin typeface="Source Serif 4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Source Serif 4"/>
              </a:defRPr>
            </a:pPr>
            <a:r>
              <a:t>Priority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36003" cy="438912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36003" cy="9144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A7AE6"/>
                </a:solidFill>
                <a:latin typeface="Source Serif 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Source Serif 4"/>
              </a:defRPr>
            </a:pPr>
            <a:r>
              <a:t>Hide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A0"/>
                </a:solidFill>
                <a:latin typeface="Source Sans 3"/>
              </a:defRPr>
            </a:pPr>
            <a:r>
              <a:t>Remove hourly rate from proposal. Present project-based pricing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7523" y="1645920"/>
            <a:ext cx="2036003" cy="438912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67523" y="1645920"/>
            <a:ext cx="2036003" cy="91440"/>
          </a:xfrm>
          <a:prstGeom prst="rect">
            <a:avLst/>
          </a:prstGeom>
          <a:solidFill>
            <a:srgbClr val="9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0403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9B9BF0"/>
                </a:solidFill>
                <a:latin typeface="Source Serif 4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0403" y="256032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Source Serif 4"/>
              </a:defRPr>
            </a:pPr>
            <a:r>
              <a:t>Add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0403" y="3749039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A0"/>
                </a:solidFill>
                <a:latin typeface="Source Sans 3"/>
              </a:defRPr>
            </a:pPr>
            <a:r>
              <a:t>Quantify ROI: hours saved, error reduction, decision speed improvement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7846" y="1645920"/>
            <a:ext cx="2036003" cy="438912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7846" y="1645920"/>
            <a:ext cx="2036003" cy="9144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0726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A7AE6"/>
                </a:solidFill>
                <a:latin typeface="Source Serif 4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0726" y="256032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Source Serif 4"/>
              </a:defRPr>
            </a:pPr>
            <a:r>
              <a:t>Add Tiers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726" y="3749039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A0"/>
                </a:solidFill>
                <a:latin typeface="Source Sans 3"/>
              </a:defRPr>
            </a:pPr>
            <a:r>
              <a:t>Offer Good / Better / Best options to anchor the client upward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169" y="1645920"/>
            <a:ext cx="2036003" cy="438912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169" y="1645920"/>
            <a:ext cx="2036003" cy="91440"/>
          </a:xfrm>
          <a:prstGeom prst="rect">
            <a:avLst/>
          </a:prstGeom>
          <a:solidFill>
            <a:srgbClr val="9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049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9B9BF0"/>
                </a:solidFill>
                <a:latin typeface="Source Serif 4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049" y="256032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Source Serif 4"/>
              </a:defRPr>
            </a:pPr>
            <a:r>
              <a:t>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049" y="3749039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A0"/>
                </a:solidFill>
                <a:latin typeface="Source Sans 3"/>
              </a:defRPr>
            </a:pPr>
            <a:r>
              <a:t>Include one reference or anonymised success story for credibility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8492" y="1645920"/>
            <a:ext cx="2036003" cy="438912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8492" y="1645920"/>
            <a:ext cx="2036003" cy="91440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1372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A7AE6"/>
                </a:solidFill>
                <a:latin typeface="Source Serif 4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1372" y="256032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Source Serif 4"/>
              </a:defRPr>
            </a:pPr>
            <a:r>
              <a:t>Raise Fee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1372" y="3749039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A0"/>
                </a:solidFill>
                <a:latin typeface="Source Sans 3"/>
              </a:defRPr>
            </a:pPr>
            <a:r>
              <a:t>Position total investment at £12-15K minimum for the scope described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0A0A0"/>
                </a:solidFill>
                <a:latin typeface="Source Serif 4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F5F5"/>
                </a:solidFill>
                <a:latin typeface="Source Serif 4"/>
              </a:defRPr>
            </a:pPr>
            <a:r>
              <a:t>Strengthen the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30552" cy="73152"/>
          </a:xfrm>
          <a:prstGeom prst="rect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03704" y="4846320"/>
            <a:ext cx="457200" cy="457200"/>
          </a:xfrm>
          <a:prstGeom prst="ellipse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037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Source Serif 4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F5F5"/>
                </a:solidFill>
                <a:latin typeface="Source Sans 3"/>
              </a:defRPr>
            </a:pPr>
            <a:r>
              <a:t>Implement priority actions</a:t>
            </a:r>
          </a:p>
        </p:txBody>
      </p:sp>
      <p:sp>
        <p:nvSpPr>
          <p:cNvPr id="9" name="Oval 8"/>
          <p:cNvSpPr/>
          <p:nvPr/>
        </p:nvSpPr>
        <p:spPr>
          <a:xfrm>
            <a:off x="5861304" y="4846320"/>
            <a:ext cx="457200" cy="457200"/>
          </a:xfrm>
          <a:prstGeom prst="ellipse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13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Source Serif 4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F5F5"/>
                </a:solidFill>
                <a:latin typeface="Source Sans 3"/>
              </a:defRPr>
            </a:pPr>
            <a:r>
              <a:t>Reframe as value-based</a:t>
            </a:r>
          </a:p>
        </p:txBody>
      </p:sp>
      <p:sp>
        <p:nvSpPr>
          <p:cNvPr id="12" name="Oval 11"/>
          <p:cNvSpPr/>
          <p:nvPr/>
        </p:nvSpPr>
        <p:spPr>
          <a:xfrm>
            <a:off x="9518904" y="4846320"/>
            <a:ext cx="457200" cy="457200"/>
          </a:xfrm>
          <a:prstGeom prst="ellipse">
            <a:avLst/>
          </a:prstGeom>
          <a:solidFill>
            <a:srgbClr val="7A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189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Source Serif 4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7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F5F5"/>
                </a:solidFill>
                <a:latin typeface="Source Sans 3"/>
              </a:defRPr>
            </a:pPr>
            <a:r>
              <a:t>Win with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A7AE6"/>
                </a:solidFill>
                <a:latin typeface="Source Serif 4"/>
              </a:defRPr>
            </a:pPr>
            <a:r>
              <a:t>TransformAZ — Where Vision Meets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