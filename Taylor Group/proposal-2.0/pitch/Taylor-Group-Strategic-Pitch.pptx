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A7AE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pPr indent="0" marL="0">
              <a:buNone/>
            </a:pPr>
            <a:r>
              <a:rPr lang="en-US" sz="1400" b="1" dirty="0">
                <a:solidFill>
                  <a:srgbClr val="7A7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the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Backbone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7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Transformation Strategy for Taylor Group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|  Strategic Proposal  |  TAZ-TG-2026-02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7A7AE6">
              <a:alpha val="9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7A7AE6">
              <a:alpha val="9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7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THE OPPORTUNITY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 Years of Growth.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Moment of Strategic Advantage.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8745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65960"/>
            <a:ext cx="1874520" cy="54864"/>
          </a:xfrm>
          <a:prstGeom prst="rect">
            <a:avLst/>
          </a:prstGeom>
          <a:solidFill>
            <a:srgbClr val="7A7AE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488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A7A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$85M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0" y="1965960"/>
            <a:ext cx="18745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0" y="1965960"/>
            <a:ext cx="1874520" cy="54864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21488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2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43200" y="27432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across 40+ countries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965960"/>
            <a:ext cx="18745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965960"/>
            <a:ext cx="1874520" cy="54864"/>
          </a:xfrm>
          <a:prstGeom prst="rect">
            <a:avLst/>
          </a:prstGeom>
          <a:solidFill>
            <a:srgbClr val="2A7D4F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1488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$15.8B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846320" y="27432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at peak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1965960"/>
            <a:ext cx="18745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49440" y="1965960"/>
            <a:ext cx="187452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21488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949440" y="27432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that succeed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520440"/>
            <a:ext cx="78638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520440"/>
            <a:ext cx="54864" cy="1188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61188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waiting is real: $350K–$750K per quarter in operational friction.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Freeman, GPJ, and Jack Morton have publicly announced AI programs. Every quarter without a strategy widens the gap.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7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KEY FINDINGS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Discovery Revealed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256032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572768"/>
            <a:ext cx="868680" cy="18288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5727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749808" y="18105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Asset Management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Blind Spot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"$20-30M in assets we can't account for"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49808" y="26974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 – $1.2M/yr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29000" y="146304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463040"/>
            <a:ext cx="256032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Shape 11"/>
          <p:cNvSpPr/>
          <p:nvPr/>
        </p:nvSpPr>
        <p:spPr>
          <a:xfrm>
            <a:off x="3538728" y="1572768"/>
            <a:ext cx="868680" cy="18288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14" name="Text 12"/>
          <p:cNvSpPr/>
          <p:nvPr/>
        </p:nvSpPr>
        <p:spPr>
          <a:xfrm>
            <a:off x="3538728" y="15727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3538728" y="18105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↔ Production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Disconnect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38728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"Sales sells it, production finds out too late"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38728" y="26974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$400K – $800K/yr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46304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463040"/>
            <a:ext cx="2560320" cy="45720"/>
          </a:xfrm>
          <a:prstGeom prst="rect">
            <a:avLst/>
          </a:prstGeom>
          <a:solidFill>
            <a:srgbClr val="9A6F1E"/>
          </a:solidFill>
          <a:ln/>
        </p:spPr>
      </p:sp>
      <p:sp>
        <p:nvSpPr>
          <p:cNvPr id="20" name="Shape 18"/>
          <p:cNvSpPr/>
          <p:nvPr/>
        </p:nvSpPr>
        <p:spPr>
          <a:xfrm>
            <a:off x="6327648" y="1572768"/>
            <a:ext cx="868680" cy="182880"/>
          </a:xfrm>
          <a:prstGeom prst="rect">
            <a:avLst/>
          </a:prstGeom>
          <a:solidFill>
            <a:srgbClr val="FDF5E6"/>
          </a:solidFill>
          <a:ln/>
        </p:spPr>
      </p:sp>
      <p:sp>
        <p:nvSpPr>
          <p:cNvPr id="21" name="Text 19"/>
          <p:cNvSpPr/>
          <p:nvPr/>
        </p:nvSpPr>
        <p:spPr>
          <a:xfrm>
            <a:off x="6327648" y="15727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150" kern="0" dirty="0">
                <a:solidFill>
                  <a:srgbClr val="9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6327648" y="18105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Drain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27648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"400-500 emails/day, 70% unnecessary CCs"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27648" y="26974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$225K – $300K/yr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324612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3246120"/>
            <a:ext cx="2560320" cy="45720"/>
          </a:xfrm>
          <a:prstGeom prst="rect">
            <a:avLst/>
          </a:prstGeom>
          <a:solidFill>
            <a:srgbClr val="9A6F1E"/>
          </a:solidFill>
          <a:ln/>
        </p:spPr>
      </p:sp>
      <p:sp>
        <p:nvSpPr>
          <p:cNvPr id="27" name="Shape 25"/>
          <p:cNvSpPr/>
          <p:nvPr/>
        </p:nvSpPr>
        <p:spPr>
          <a:xfrm>
            <a:off x="749808" y="3355848"/>
            <a:ext cx="868680" cy="182880"/>
          </a:xfrm>
          <a:prstGeom prst="rect">
            <a:avLst/>
          </a:prstGeom>
          <a:solidFill>
            <a:srgbClr val="FDF5E6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33558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150" kern="0" dirty="0">
                <a:solidFill>
                  <a:srgbClr val="9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749808" y="35935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Dormant AI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9808" y="4114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"Paying for ClickUp Brain, nobody using it"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49808" y="44805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$75K – $150K/yr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29000" y="324612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429000" y="3246120"/>
            <a:ext cx="2560320" cy="457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4" name="Shape 32"/>
          <p:cNvSpPr/>
          <p:nvPr/>
        </p:nvSpPr>
        <p:spPr>
          <a:xfrm>
            <a:off x="3538728" y="3355848"/>
            <a:ext cx="868680" cy="18288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35" name="Text 33"/>
          <p:cNvSpPr/>
          <p:nvPr/>
        </p:nvSpPr>
        <p:spPr>
          <a:xfrm>
            <a:off x="3538728" y="33558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15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3538728" y="35935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Generational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Adoption Gap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538728" y="4114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"Younger staff adapt; seniors need a pathway"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538728" y="44805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 delay = 2x cost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0" y="324612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17920" y="3246120"/>
            <a:ext cx="2560320" cy="457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41" name="Shape 39"/>
          <p:cNvSpPr/>
          <p:nvPr/>
        </p:nvSpPr>
        <p:spPr>
          <a:xfrm>
            <a:off x="6327648" y="3355848"/>
            <a:ext cx="868680" cy="18288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42" name="Text 40"/>
          <p:cNvSpPr/>
          <p:nvPr/>
        </p:nvSpPr>
        <p:spPr>
          <a:xfrm>
            <a:off x="6327648" y="33558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15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6327648" y="35935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Strategic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Layer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327648" y="4114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CTO. No one looks at this holistically"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327648" y="44805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$200K – $400K/yr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7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THE DIGITAL BACKBONE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Connected Operation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nervous system that connects every part of Taylor's business — sales, production, assets, communication, and decisions.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2377440" cy="1280160"/>
          </a:xfrm>
          <a:prstGeom prst="rect">
            <a:avLst/>
          </a:prstGeom>
          <a:solidFill>
            <a:srgbClr val="2C528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21945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560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Creative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246120" y="2468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7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749040" y="2103120"/>
            <a:ext cx="2377440" cy="1280160"/>
          </a:xfrm>
          <a:prstGeom prst="rect">
            <a:avLst/>
          </a:prstGeom>
          <a:solidFill>
            <a:srgbClr val="2A7D4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1945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49040" y="2560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74904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Experiences &amp; Fabrication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080760" y="2468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7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6583680" y="2103120"/>
            <a:ext cx="2377440" cy="1280160"/>
          </a:xfrm>
          <a:prstGeom prst="rect">
            <a:avLst/>
          </a:prstGeom>
          <a:solidFill>
            <a:srgbClr val="9A6F1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21945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83680" y="2560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58368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&amp; Measurement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914400" y="3657600"/>
            <a:ext cx="7589520" cy="457200"/>
          </a:xfrm>
          <a:prstGeom prst="rect">
            <a:avLst/>
          </a:prstGeom>
          <a:solidFill>
            <a:srgbClr val="7A7AE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914400" y="3657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BACKBONE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914400" y="4343400"/>
            <a:ext cx="1371600" cy="274320"/>
          </a:xfrm>
          <a:prstGeom prst="rect">
            <a:avLst/>
          </a:prstGeom>
          <a:solidFill>
            <a:srgbClr val="2A7D4F">
              <a:alpha val="20000"/>
            </a:srgbClr>
          </a:solidFill>
          <a:ln/>
        </p:spPr>
      </p:sp>
      <p:sp>
        <p:nvSpPr>
          <p:cNvPr id="22" name="Text 17"/>
          <p:cNvSpPr/>
          <p:nvPr/>
        </p:nvSpPr>
        <p:spPr>
          <a:xfrm>
            <a:off x="914400" y="4343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A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Culture</a:t>
            </a:r>
            <a:endParaRPr lang="en-US" sz="700" dirty="0"/>
          </a:p>
        </p:txBody>
      </p:sp>
      <p:sp>
        <p:nvSpPr>
          <p:cNvPr id="23" name="Shape 18"/>
          <p:cNvSpPr/>
          <p:nvPr/>
        </p:nvSpPr>
        <p:spPr>
          <a:xfrm>
            <a:off x="2432304" y="4343400"/>
            <a:ext cx="1371600" cy="274320"/>
          </a:xfrm>
          <a:prstGeom prst="rect">
            <a:avLst/>
          </a:prstGeom>
          <a:solidFill>
            <a:srgbClr val="2C5282">
              <a:alpha val="2000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2432304" y="4343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700" dirty="0"/>
          </a:p>
        </p:txBody>
      </p:sp>
      <p:sp>
        <p:nvSpPr>
          <p:cNvPr id="25" name="Shape 20"/>
          <p:cNvSpPr/>
          <p:nvPr/>
        </p:nvSpPr>
        <p:spPr>
          <a:xfrm>
            <a:off x="3950208" y="4343400"/>
            <a:ext cx="1371600" cy="274320"/>
          </a:xfrm>
          <a:prstGeom prst="rect">
            <a:avLst/>
          </a:prstGeom>
          <a:solidFill>
            <a:srgbClr val="7A7AE6">
              <a:alpha val="20000"/>
            </a:srgbClr>
          </a:solidFill>
          <a:ln/>
        </p:spPr>
      </p:sp>
      <p:sp>
        <p:nvSpPr>
          <p:cNvPr id="26" name="Text 21"/>
          <p:cNvSpPr/>
          <p:nvPr/>
        </p:nvSpPr>
        <p:spPr>
          <a:xfrm>
            <a:off x="3950208" y="4343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A7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Integrations</a:t>
            </a:r>
            <a:endParaRPr lang="en-US" sz="700" dirty="0"/>
          </a:p>
        </p:txBody>
      </p:sp>
      <p:sp>
        <p:nvSpPr>
          <p:cNvPr id="27" name="Shape 22"/>
          <p:cNvSpPr/>
          <p:nvPr/>
        </p:nvSpPr>
        <p:spPr>
          <a:xfrm>
            <a:off x="5468112" y="4343400"/>
            <a:ext cx="1371600" cy="274320"/>
          </a:xfrm>
          <a:prstGeom prst="rect">
            <a:avLst/>
          </a:prstGeom>
          <a:solidFill>
            <a:srgbClr val="9A6F1E">
              <a:alpha val="20000"/>
            </a:srgbClr>
          </a:solidFill>
          <a:ln/>
        </p:spPr>
      </p:sp>
      <p:sp>
        <p:nvSpPr>
          <p:cNvPr id="28" name="Text 23"/>
          <p:cNvSpPr/>
          <p:nvPr/>
        </p:nvSpPr>
        <p:spPr>
          <a:xfrm>
            <a:off x="5468112" y="4343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700" dirty="0"/>
          </a:p>
        </p:txBody>
      </p:sp>
      <p:sp>
        <p:nvSpPr>
          <p:cNvPr id="29" name="Shape 24"/>
          <p:cNvSpPr/>
          <p:nvPr/>
        </p:nvSpPr>
        <p:spPr>
          <a:xfrm>
            <a:off x="6986016" y="4343400"/>
            <a:ext cx="1371600" cy="274320"/>
          </a:xfrm>
          <a:prstGeom prst="rect">
            <a:avLst/>
          </a:prstGeom>
          <a:solidFill>
            <a:srgbClr val="C0392B">
              <a:alpha val="20000"/>
            </a:srgbClr>
          </a:solidFill>
          <a:ln/>
        </p:spPr>
      </p:sp>
      <p:sp>
        <p:nvSpPr>
          <p:cNvPr id="30" name="Text 25"/>
          <p:cNvSpPr/>
          <p:nvPr/>
        </p:nvSpPr>
        <p:spPr>
          <a:xfrm>
            <a:off x="6986016" y="4343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700" dirty="0"/>
          </a:p>
        </p:txBody>
      </p:sp>
      <p:sp>
        <p:nvSpPr>
          <p:cNvPr id="31" name="Shape 26"/>
          <p:cNvSpPr/>
          <p:nvPr/>
        </p:nvSpPr>
        <p:spPr>
          <a:xfrm>
            <a:off x="1600200" y="4114800"/>
            <a:ext cx="0" cy="228600"/>
          </a:xfrm>
          <a:prstGeom prst="line">
            <a:avLst/>
          </a:prstGeom>
          <a:noFill/>
          <a:ln w="19050">
            <a:solidFill>
              <a:srgbClr val="7A7AE6">
                <a:alpha val="60000"/>
              </a:srgbClr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3118104" y="4114800"/>
            <a:ext cx="0" cy="228600"/>
          </a:xfrm>
          <a:prstGeom prst="line">
            <a:avLst/>
          </a:prstGeom>
          <a:noFill/>
          <a:ln w="19050">
            <a:solidFill>
              <a:srgbClr val="7A7AE6">
                <a:alpha val="60000"/>
              </a:srgbClr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4636008" y="4114800"/>
            <a:ext cx="0" cy="228600"/>
          </a:xfrm>
          <a:prstGeom prst="line">
            <a:avLst/>
          </a:prstGeom>
          <a:noFill/>
          <a:ln w="19050">
            <a:solidFill>
              <a:srgbClr val="7A7AE6">
                <a:alpha val="6000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6153912" y="4114800"/>
            <a:ext cx="0" cy="228600"/>
          </a:xfrm>
          <a:prstGeom prst="line">
            <a:avLst/>
          </a:prstGeom>
          <a:noFill/>
          <a:ln w="19050">
            <a:solidFill>
              <a:srgbClr val="7A7AE6">
                <a:alpha val="60000"/>
              </a:srgbClr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671816" y="4114800"/>
            <a:ext cx="0" cy="228600"/>
          </a:xfrm>
          <a:prstGeom prst="line">
            <a:avLst/>
          </a:prstGeom>
          <a:noFill/>
          <a:ln w="19050">
            <a:solidFill>
              <a:srgbClr val="7A7AE6">
                <a:alpha val="6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7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THE TRANSFORMATION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· Build · Execute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2560320" cy="45720"/>
          </a:xfrm>
          <a:prstGeom prst="rect">
            <a:avLst/>
          </a:prstGeom>
          <a:solidFill>
            <a:srgbClr val="2C52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459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05740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memory, proposal acceleration, AI-assisted ideation. Ideas build on what Taylor already knows.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29000" y="146304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1463040"/>
            <a:ext cx="2560320" cy="45720"/>
          </a:xfrm>
          <a:prstGeom prst="rect">
            <a:avLst/>
          </a:prstGeom>
          <a:solidFill>
            <a:srgbClr val="2A7D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6459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A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66160" y="205740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Design-to-build continuity, asset intelligence, capacity forecasting. The gap between sold and buildable closes.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46304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463040"/>
            <a:ext cx="2560320" cy="45720"/>
          </a:xfrm>
          <a:prstGeom prst="rect">
            <a:avLst/>
          </a:prstGeom>
          <a:solidFill>
            <a:srgbClr val="9A6F1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459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2084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55080" y="205740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orchestration, resource allocation, measurement loop. Each project makes the next one better.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886200"/>
            <a:ext cx="78638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3886200"/>
            <a:ext cx="54864" cy="868680"/>
          </a:xfrm>
          <a:prstGeom prst="rect">
            <a:avLst/>
          </a:prstGeom>
          <a:solidFill>
            <a:srgbClr val="7A7AE6"/>
          </a:solidFill>
          <a:ln/>
        </p:spPr>
      </p:sp>
      <p:sp>
        <p:nvSpPr>
          <p:cNvPr id="21" name="Text 16"/>
          <p:cNvSpPr/>
          <p:nvPr/>
        </p:nvSpPr>
        <p:spPr>
          <a:xfrm>
            <a:off x="914400" y="388620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impact: $1.4M – $2.85M annually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operational friction and unrealized value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7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TIMELINE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Phased Approach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14173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359152" y="14173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163824" y="14173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968496" y="14173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773168" y="14173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577840" y="14173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382512" y="14173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187184" y="14173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991856" y="14173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554480" y="1691640"/>
            <a:ext cx="7242048" cy="0"/>
          </a:xfrm>
          <a:prstGeom prst="line">
            <a:avLst/>
          </a:prstGeom>
          <a:noFill/>
          <a:ln w="6350">
            <a:solidFill>
              <a:srgbClr val="E0DD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82880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74320" y="2029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554480" y="1847088"/>
            <a:ext cx="1609344" cy="36576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7" name="Text 15"/>
          <p:cNvSpPr/>
          <p:nvPr/>
        </p:nvSpPr>
        <p:spPr>
          <a:xfrm>
            <a:off x="1645920" y="1847088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review, tech audit, stakeholder mapping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74320" y="24231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A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4320" y="262432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163824" y="2441448"/>
            <a:ext cx="804672" cy="365760"/>
          </a:xfrm>
          <a:prstGeom prst="rect">
            <a:avLst/>
          </a:prstGeom>
          <a:solidFill>
            <a:srgbClr val="2A7D4F"/>
          </a:solidFill>
          <a:ln/>
        </p:spPr>
      </p:sp>
      <p:sp>
        <p:nvSpPr>
          <p:cNvPr id="21" name="Text 19"/>
          <p:cNvSpPr/>
          <p:nvPr/>
        </p:nvSpPr>
        <p:spPr>
          <a:xfrm>
            <a:off x="3255264" y="244144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Onsite Toronto: interviews, process mapping, AI vision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" y="30175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7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4320" y="321868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968496" y="3035808"/>
            <a:ext cx="3218688" cy="365760"/>
          </a:xfrm>
          <a:prstGeom prst="rect">
            <a:avLst/>
          </a:prstGeom>
          <a:solidFill>
            <a:srgbClr val="7A7AE6"/>
          </a:solidFill>
          <a:ln/>
        </p:spPr>
      </p:sp>
      <p:sp>
        <p:nvSpPr>
          <p:cNvPr id="25" name="Text 23"/>
          <p:cNvSpPr/>
          <p:nvPr/>
        </p:nvSpPr>
        <p:spPr>
          <a:xfrm>
            <a:off x="4059936" y="3035808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builds, platform optimization, champion training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74320" y="36118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STABILIZATION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4320" y="381304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7187184" y="3630168"/>
            <a:ext cx="1609344" cy="365760"/>
          </a:xfrm>
          <a:prstGeom prst="rect">
            <a:avLst/>
          </a:prstGeom>
          <a:solidFill>
            <a:srgbClr val="9A6F1E"/>
          </a:solidFill>
          <a:ln/>
        </p:spPr>
      </p:sp>
      <p:sp>
        <p:nvSpPr>
          <p:cNvPr id="29" name="Text 27"/>
          <p:cNvSpPr/>
          <p:nvPr/>
        </p:nvSpPr>
        <p:spPr>
          <a:xfrm>
            <a:off x="7278624" y="3630168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Adoption, measurement, knowledge transfer, advisory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40080" y="425196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" y="4251960"/>
            <a:ext cx="54864" cy="594360"/>
          </a:xfrm>
          <a:prstGeom prst="rect">
            <a:avLst/>
          </a:prstGeom>
          <a:solidFill>
            <a:srgbClr val="7A7AE6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425196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delivers standalone value. </a:t>
            </a:r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 sees results before committing to the next stage. No multi-year contracts. No lock-in. Prove value, then expand.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7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MARKET INSIGHTS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 Experiential Marketing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560320" cy="192024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63040"/>
            <a:ext cx="2560320" cy="457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→ 12 Months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 of marketing activities automatable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productivity gains achievable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wins: email, meetings, content drafts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29000" y="1463040"/>
            <a:ext cx="2560320" cy="1920240"/>
          </a:xfrm>
          <a:prstGeom prst="rect">
            <a:avLst/>
          </a:prstGeom>
          <a:solidFill>
            <a:srgbClr val="FDF5E6"/>
          </a:solidFill>
          <a:ln/>
        </p:spPr>
      </p:sp>
      <p:sp>
        <p:nvSpPr>
          <p:cNvPr id="9" name="Shape 7"/>
          <p:cNvSpPr/>
          <p:nvPr/>
        </p:nvSpPr>
        <p:spPr>
          <a:xfrm>
            <a:off x="3429000" y="1463040"/>
            <a:ext cx="2560320" cy="45720"/>
          </a:xfrm>
          <a:prstGeom prst="rect">
            <a:avLst/>
          </a:prstGeom>
          <a:solidFill>
            <a:srgbClr val="9A6F1E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– 3 Years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19659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replaces basic chatbots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tracking goes RFID/IoT-based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transformers win enterprise contracts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2560320" cy="1920240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0" y="1463040"/>
            <a:ext cx="2560320" cy="45720"/>
          </a:xfrm>
          <a:prstGeom prst="rect">
            <a:avLst/>
          </a:prstGeom>
          <a:solidFill>
            <a:srgbClr val="2A7D4F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– 10 Years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19659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operations &amp; digital twins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creative augmentation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Taylor's IP becomes its competitive moat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7490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" y="4206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succeed fully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0" y="365760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0" y="37490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6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2743200" y="4206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to meet objectives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365760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37490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2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846320" y="4206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AI ROI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49440" y="3657600"/>
            <a:ext cx="18745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49440" y="37490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949440" y="4206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 potential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A7AE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7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NEXT STEPS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Moving Forward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4663440" cy="320040"/>
          </a:xfrm>
          <a:prstGeom prst="rect">
            <a:avLst/>
          </a:prstGeom>
          <a:solidFill>
            <a:srgbClr val="7A7AE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377440" y="1554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MODEL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0" y="1554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4663440" cy="502920"/>
          </a:xfrm>
          <a:prstGeom prst="rect">
            <a:avLst/>
          </a:prstGeom>
          <a:solidFill>
            <a:srgbClr val="7A7AE6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874520"/>
            <a:ext cx="45720" cy="5029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928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13055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– May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377440" y="18745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fee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0" y="1874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2377440"/>
            <a:ext cx="4663440" cy="502920"/>
          </a:xfrm>
          <a:prstGeom prst="rect">
            <a:avLst/>
          </a:prstGeom>
          <a:solidFill>
            <a:srgbClr val="7A7AE6">
              <a:alpha val="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377440"/>
            <a:ext cx="45720" cy="502920"/>
          </a:xfrm>
          <a:prstGeom prst="rect">
            <a:avLst/>
          </a:prstGeom>
          <a:solidFill>
            <a:srgbClr val="2A7D4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39572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63347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377440" y="23774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fee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0" y="2377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Onsite Toronto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2880360"/>
            <a:ext cx="4663440" cy="502920"/>
          </a:xfrm>
          <a:prstGeom prst="rect">
            <a:avLst/>
          </a:prstGeom>
          <a:solidFill>
            <a:srgbClr val="7A7AE6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2880360"/>
            <a:ext cx="45720" cy="502920"/>
          </a:xfrm>
          <a:prstGeom prst="rect">
            <a:avLst/>
          </a:prstGeom>
          <a:solidFill>
            <a:srgbClr val="7A7AE6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289864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313639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– Oct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377440" y="28803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retainer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0" y="28803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0080" y="3383280"/>
            <a:ext cx="4663440" cy="502920"/>
          </a:xfrm>
          <a:prstGeom prst="rect">
            <a:avLst/>
          </a:prstGeom>
          <a:solidFill>
            <a:srgbClr val="7A7AE6">
              <a:alpha val="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3383280"/>
            <a:ext cx="45720" cy="502920"/>
          </a:xfrm>
          <a:prstGeom prst="rect">
            <a:avLst/>
          </a:prstGeom>
          <a:solidFill>
            <a:srgbClr val="9A6F1E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34015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" y="363931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Nov+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377440" y="33832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retainer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0" y="33832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77840" y="1554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7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NEXT STEP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577840" y="1874520"/>
            <a:ext cx="3200400" cy="914400"/>
          </a:xfrm>
          <a:prstGeom prst="rect">
            <a:avLst/>
          </a:prstGeom>
          <a:solidFill>
            <a:srgbClr val="7A7AE6"/>
          </a:solidFill>
          <a:ln/>
        </p:spPr>
      </p:sp>
      <p:sp>
        <p:nvSpPr>
          <p:cNvPr id="35" name="Text 33"/>
          <p:cNvSpPr/>
          <p:nvPr/>
        </p:nvSpPr>
        <p:spPr>
          <a:xfrm>
            <a:off x="5715000" y="1920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INTAKE in April 2026. Contained, fixed-fee engagement. No obligation to proceed further.</a:t>
            </a:r>
            <a:endParaRPr lang="en-US" sz="1100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3017520"/>
            <a:ext cx="164592" cy="164592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5852160" y="29718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operational assessment</a:t>
            </a:r>
            <a:endParaRPr lang="en-US" sz="900" dirty="0"/>
          </a:p>
        </p:txBody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3383280"/>
            <a:ext cx="164592" cy="164592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5852160" y="33375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impact (replacing ranges with precise figures)</a:t>
            </a:r>
            <a:endParaRPr lang="en-US" sz="900" dirty="0"/>
          </a:p>
        </p:txBody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3749040"/>
            <a:ext cx="164592" cy="164592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5852160" y="37033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quick wins + strategic workstreams</a:t>
            </a:r>
            <a:endParaRPr lang="en-US" sz="900" dirty="0"/>
          </a:p>
        </p:txBody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4114800"/>
            <a:ext cx="164592" cy="164592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5852160" y="40690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scoped proposal for next phases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640080" y="4663440"/>
            <a:ext cx="7863840" cy="9144"/>
          </a:xfrm>
          <a:prstGeom prst="rect">
            <a:avLst/>
          </a:prstGeom>
          <a:solidFill>
            <a:srgbClr val="7A7AE6">
              <a:alpha val="50000"/>
            </a:srgbClr>
          </a:solidFill>
          <a:ln/>
        </p:spPr>
      </p:sp>
      <p:sp>
        <p:nvSpPr>
          <p:cNvPr id="45" name="Text 39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pPr algn="ctr" indent="0" marL="0">
              <a:buNone/>
            </a:pPr>
            <a:r>
              <a:rPr lang="en-US" sz="900" b="1" dirty="0">
                <a:solidFill>
                  <a:srgbClr val="7A7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</a:t>
            </a:r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March 2026  —  Prepared exclusively for Taylor Group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the Digital Backbone — Taylor Group</dc:title>
  <dc:subject>PptxGenJS Presentation</dc:subject>
  <dc:creator>TransformAZ</dc:creator>
  <cp:lastModifiedBy>TransformAZ</cp:lastModifiedBy>
  <cp:revision>1</cp:revision>
  <dcterms:created xsi:type="dcterms:W3CDTF">2026-03-17T09:58:59Z</dcterms:created>
  <dcterms:modified xsi:type="dcterms:W3CDTF">2026-03-17T09:58:59Z</dcterms:modified>
</cp:coreProperties>
</file>